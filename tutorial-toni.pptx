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2"/>
  </p:notesMasterIdLst>
  <p:sldIdLst>
    <p:sldId id="256" r:id="rId2"/>
    <p:sldId id="257" r:id="rId3"/>
    <p:sldId id="265" r:id="rId4"/>
    <p:sldId id="264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2395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>
          <a:extLst>
            <a:ext uri="{FF2B5EF4-FFF2-40B4-BE49-F238E27FC236}">
              <a16:creationId xmlns:a16="http://schemas.microsoft.com/office/drawing/2014/main" id="{CC5DC4C1-D008-8465-218E-BD8A5BFEC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>
            <a:extLst>
              <a:ext uri="{FF2B5EF4-FFF2-40B4-BE49-F238E27FC236}">
                <a16:creationId xmlns:a16="http://schemas.microsoft.com/office/drawing/2014/main" id="{0892C3E8-C58C-2C45-8756-6230C23545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2:notes">
            <a:extLst>
              <a:ext uri="{FF2B5EF4-FFF2-40B4-BE49-F238E27FC236}">
                <a16:creationId xmlns:a16="http://schemas.microsoft.com/office/drawing/2014/main" id="{92AF4B0F-EA9E-927B-F2B7-BE6A0CF4C2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D0A6DE61-2597-2396-F646-B28969972D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0749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>
          <a:extLst>
            <a:ext uri="{FF2B5EF4-FFF2-40B4-BE49-F238E27FC236}">
              <a16:creationId xmlns:a16="http://schemas.microsoft.com/office/drawing/2014/main" id="{592A02A7-FC3B-E5CD-48F8-385340E9C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>
            <a:extLst>
              <a:ext uri="{FF2B5EF4-FFF2-40B4-BE49-F238E27FC236}">
                <a16:creationId xmlns:a16="http://schemas.microsoft.com/office/drawing/2014/main" id="{2A5EFC99-B924-3061-4A65-9900D04FB0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2:notes">
            <a:extLst>
              <a:ext uri="{FF2B5EF4-FFF2-40B4-BE49-F238E27FC236}">
                <a16:creationId xmlns:a16="http://schemas.microsoft.com/office/drawing/2014/main" id="{6176A482-96EC-A5EC-B8BA-96DDABF4D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CFB0E2AF-ECB2-9ED5-8B92-F53EDFB94B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5911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C17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2B241D">
              <a:alpha val="7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692640" y="-640080"/>
            <a:ext cx="3474720" cy="3474720"/>
          </a:xfrm>
          <a:prstGeom prst="ellipse">
            <a:avLst/>
          </a:prstGeom>
          <a:solidFill>
            <a:srgbClr val="332B22">
              <a:alpha val="90196"/>
            </a:srgbClr>
          </a:solidFill>
          <a:ln w="12700" cap="flat" cmpd="sng">
            <a:solidFill>
              <a:srgbClr val="C9A2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PARA TONI </a:t>
            </a:r>
            <a:r>
              <a:rPr lang="en-US" sz="1300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DE SILONIZ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777240" y="2697480"/>
            <a:ext cx="868680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4800"/>
              <a:buFont typeface="Cambria"/>
              <a:buNone/>
            </a:pPr>
            <a:r>
              <a:rPr lang="en-US" sz="4800" b="0" i="0" u="none" strike="noStrike" cap="none">
                <a:solidFill>
                  <a:srgbClr val="F1E9DA"/>
                </a:solidFill>
                <a:latin typeface="Cambria"/>
                <a:ea typeface="Cambria"/>
                <a:cs typeface="Cambria"/>
                <a:sym typeface="Cambria"/>
              </a:rPr>
              <a:t>Cómo revisar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4800"/>
              <a:buFont typeface="Cambria"/>
              <a:buNone/>
            </a:pPr>
            <a:r>
              <a:rPr lang="en-US" sz="4800" b="0" i="0" u="none" strike="noStrike" cap="none">
                <a:solidFill>
                  <a:srgbClr val="F1E9DA"/>
                </a:solidFill>
                <a:latin typeface="Cambria"/>
                <a:ea typeface="Cambria"/>
                <a:cs typeface="Cambria"/>
                <a:sym typeface="Cambria"/>
              </a:rPr>
              <a:t>los videos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822960" y="47091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Una guía rápida del tablero de revisión — te toma dos minutos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C17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EMPECEMOS POR AQUÍ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3200"/>
              <a:buFont typeface="Cambria"/>
              <a:buNone/>
            </a:pPr>
            <a:r>
              <a:rPr lang="en-US" sz="3200" b="0" i="0" u="none" strike="noStrike" cap="none" dirty="0" err="1">
                <a:solidFill>
                  <a:srgbClr val="F1E9DA"/>
                </a:solidFill>
                <a:latin typeface="Cambria"/>
                <a:ea typeface="Cambria"/>
                <a:cs typeface="Cambria"/>
                <a:sym typeface="Cambria"/>
              </a:rPr>
              <a:t>Achivo</a:t>
            </a:r>
            <a:r>
              <a:rPr lang="en-US" sz="3200" b="0" i="0" u="none" strike="noStrike" cap="none" dirty="0">
                <a:solidFill>
                  <a:srgbClr val="F1E9DA"/>
                </a:solidFill>
                <a:latin typeface="Cambria"/>
                <a:ea typeface="Cambria"/>
                <a:cs typeface="Cambria"/>
                <a:sym typeface="Cambria"/>
              </a:rPr>
              <a:t> HTML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 txBox="1"/>
          <p:nvPr/>
        </p:nvSpPr>
        <p:spPr>
          <a:xfrm>
            <a:off x="3970605" y="1965960"/>
            <a:ext cx="6866007" cy="2426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500"/>
              <a:buFont typeface="Calibri"/>
              <a:buNone/>
            </a:pPr>
            <a:endParaRPr lang="en-US" sz="1500" b="0" i="0" u="none" strike="noStrike" cap="none" dirty="0">
              <a:solidFill>
                <a:srgbClr val="B3A8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500"/>
              <a:buFont typeface="Calibri"/>
              <a:buNone/>
            </a:pPr>
            <a:endParaRPr lang="en-US" sz="1500" dirty="0">
              <a:solidFill>
                <a:srgbClr val="B3A8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500"/>
              <a:buFont typeface="Calibri"/>
              <a:buNone/>
            </a:pPr>
            <a:endParaRPr lang="en-US" sz="1500" b="0" i="0" u="none" strike="noStrike" cap="none" dirty="0">
              <a:solidFill>
                <a:srgbClr val="B3A8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500"/>
              <a:buFont typeface="Calibri"/>
              <a:buNone/>
            </a:pPr>
            <a:endParaRPr lang="en-US" sz="1500" dirty="0">
              <a:solidFill>
                <a:srgbClr val="B3A8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500"/>
              <a:buFont typeface="Calibri"/>
              <a:buNone/>
            </a:pPr>
            <a:endParaRPr lang="en-US" sz="1500" b="0" i="0" u="none" strike="noStrike" cap="none" dirty="0">
              <a:solidFill>
                <a:srgbClr val="B3A8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500"/>
              <a:buFont typeface="Calibri"/>
              <a:buNone/>
            </a:pPr>
            <a:endParaRPr lang="en-US" sz="1500" dirty="0">
              <a:solidFill>
                <a:srgbClr val="B3A8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500"/>
              <a:buFont typeface="Calibri"/>
              <a:buNone/>
            </a:pPr>
            <a:endParaRPr lang="en-US" sz="1500" b="0" i="0" u="none" strike="noStrike" cap="none" dirty="0">
              <a:solidFill>
                <a:srgbClr val="B3A8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rgbClr val="B3A896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Te</a:t>
            </a:r>
            <a:r>
              <a:rPr lang="en-US" sz="2000" b="0" i="0" u="none" strike="noStrike" cap="none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mandé</a:t>
            </a:r>
            <a:r>
              <a:rPr lang="en-US" sz="2000" b="0" i="0" u="none" strike="noStrike" cap="none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un archive </a:t>
            </a:r>
            <a:r>
              <a:rPr lang="en-US" sz="2000" b="0" i="0" u="none" strike="noStrike" cap="none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llamado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“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tablero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-revision” con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formato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HTML. Lo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único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tienes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hacer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con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él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es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abrirlo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tu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navegador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Aún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está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disponible para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celular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por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lo que es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necesario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abrirlo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la pc.</a:t>
            </a:r>
          </a:p>
          <a:p>
            <a:pPr marL="285750" lvl="0" indent="-285750">
              <a:buClr>
                <a:srgbClr val="B3A896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Ese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archivo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guádarlo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, y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vez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quieras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volver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a la revision, lo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puedes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abrir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igual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manera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285750" lvl="0" indent="-285750">
              <a:buClr>
                <a:srgbClr val="B3A896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Te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hare un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archivo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mensual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para que sea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más</a:t>
            </a:r>
            <a:r>
              <a:rPr lang="en-US" sz="20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organizado</a:t>
            </a:r>
            <a:endParaRPr lang="en-US" sz="2000" dirty="0">
              <a:solidFill>
                <a:srgbClr val="B3A8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500"/>
            </a:pP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1554480" y="5586984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35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C17"/>
        </a:solidFill>
        <a:effectLst/>
      </p:bgPr>
    </p:bg>
    <p:spTree>
      <p:nvGrpSpPr>
        <p:cNvPr id="1" name="Shape 25">
          <a:extLst>
            <a:ext uri="{FF2B5EF4-FFF2-40B4-BE49-F238E27FC236}">
              <a16:creationId xmlns:a16="http://schemas.microsoft.com/office/drawing/2014/main" id="{54B2D88D-6034-E3A1-E6B8-EF4877E14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>
            <a:extLst>
              <a:ext uri="{FF2B5EF4-FFF2-40B4-BE49-F238E27FC236}">
                <a16:creationId xmlns:a16="http://schemas.microsoft.com/office/drawing/2014/main" id="{4AB054B3-13A4-96A3-8E12-8D7344C17363}"/>
              </a:ext>
            </a:extLst>
          </p:cNvPr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EMPECEMOS POR AQUÍ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>
            <a:extLst>
              <a:ext uri="{FF2B5EF4-FFF2-40B4-BE49-F238E27FC236}">
                <a16:creationId xmlns:a16="http://schemas.microsoft.com/office/drawing/2014/main" id="{A1D1F76A-6ABE-597B-EBE3-CF28A30A44CE}"/>
              </a:ext>
            </a:extLst>
          </p:cNvPr>
          <p:cNvSpPr txBox="1"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3200"/>
              <a:buFont typeface="Cambria"/>
              <a:buNone/>
            </a:pPr>
            <a:r>
              <a:rPr lang="en-US" sz="3200" b="0" i="0" u="none" strike="noStrike" cap="none" dirty="0">
                <a:solidFill>
                  <a:srgbClr val="F1E9DA"/>
                </a:solidFill>
                <a:latin typeface="Cambria"/>
                <a:ea typeface="Cambria"/>
                <a:cs typeface="Cambria"/>
                <a:sym typeface="Cambria"/>
              </a:rPr>
              <a:t>Lo que vas a </a:t>
            </a:r>
            <a:r>
              <a:rPr lang="en-US" sz="3200" b="0" i="0" u="none" strike="noStrike" cap="none" dirty="0" err="1">
                <a:solidFill>
                  <a:srgbClr val="F1E9DA"/>
                </a:solidFill>
                <a:latin typeface="Cambria"/>
                <a:ea typeface="Cambria"/>
                <a:cs typeface="Cambria"/>
                <a:sym typeface="Cambria"/>
              </a:rPr>
              <a:t>encontrar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>
            <a:extLst>
              <a:ext uri="{FF2B5EF4-FFF2-40B4-BE49-F238E27FC236}">
                <a16:creationId xmlns:a16="http://schemas.microsoft.com/office/drawing/2014/main" id="{78201674-0C19-0727-261D-102F2F7849DB}"/>
              </a:ext>
            </a:extLst>
          </p:cNvPr>
          <p:cNvSpPr txBox="1"/>
          <p:nvPr/>
        </p:nvSpPr>
        <p:spPr>
          <a:xfrm>
            <a:off x="640080" y="1600199"/>
            <a:ext cx="3984674" cy="2426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500"/>
              <a:buFont typeface="Calibri"/>
              <a:buNone/>
            </a:pPr>
            <a:endParaRPr lang="en-US" sz="1500" b="0" i="0" u="none" strike="noStrike" cap="none" dirty="0">
              <a:solidFill>
                <a:srgbClr val="B3A8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500"/>
              <a:buFont typeface="Calibri"/>
              <a:buNone/>
            </a:pPr>
            <a:endParaRPr lang="en-US" sz="1500" dirty="0">
              <a:solidFill>
                <a:srgbClr val="B3A8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500"/>
              <a:buFont typeface="Calibri"/>
              <a:buNone/>
            </a:pPr>
            <a:endParaRPr lang="en-US" sz="1500" b="0" i="0" u="none" strike="noStrike" cap="none" dirty="0">
              <a:solidFill>
                <a:srgbClr val="B3A8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500"/>
              <a:buFont typeface="Calibri"/>
              <a:buNone/>
            </a:pPr>
            <a:endParaRPr lang="en-US" sz="1500" dirty="0">
              <a:solidFill>
                <a:srgbClr val="B3A8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500"/>
              <a:buFont typeface="Calibri"/>
              <a:buNone/>
            </a:pPr>
            <a:endParaRPr lang="en-US" sz="1500" b="0" i="0" u="none" strike="noStrike" cap="none" dirty="0">
              <a:solidFill>
                <a:srgbClr val="B3A8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500"/>
              <a:buFont typeface="Calibri"/>
              <a:buNone/>
            </a:pPr>
            <a:endParaRPr lang="en-US" sz="1500" dirty="0">
              <a:solidFill>
                <a:srgbClr val="B3A8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500"/>
              <a:buFont typeface="Calibri"/>
              <a:buNone/>
            </a:pPr>
            <a:r>
              <a:rPr lang="en-US" sz="17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Pestañas</a:t>
            </a:r>
            <a:r>
              <a:rPr lang="en-US" sz="15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500"/>
              <a:buFont typeface="Calibri"/>
              <a:buNone/>
            </a:pPr>
            <a:endParaRPr lang="en-US" sz="1500" b="0" i="0" u="none" strike="noStrike" cap="none" dirty="0">
              <a:solidFill>
                <a:srgbClr val="B3A8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500" b="0" i="0" u="none" strike="noStrike" cap="none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Cada </a:t>
            </a:r>
            <a:r>
              <a:rPr lang="en-US" sz="1500" b="0" i="0" u="none" strike="noStrike" cap="none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pestaña</a:t>
            </a:r>
            <a:r>
              <a:rPr lang="en-US" sz="1500" b="0" i="0" u="none" strike="noStrike" cap="none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es un video </a:t>
            </a:r>
            <a:r>
              <a:rPr lang="en-US" sz="1500" b="0" i="0" u="none" strike="noStrike" cap="none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distinto</a:t>
            </a:r>
            <a:r>
              <a:rPr lang="en-US" sz="1500" b="0" i="0" u="none" strike="noStrike" cap="none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En </a:t>
            </a:r>
            <a:r>
              <a:rPr lang="en-US" sz="15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este</a:t>
            </a:r>
            <a:r>
              <a:rPr lang="en-US" sz="15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caso</a:t>
            </a:r>
            <a:r>
              <a:rPr lang="en-US" sz="15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solo hay un video para revision,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pero</a:t>
            </a:r>
            <a:r>
              <a:rPr lang="en-US" sz="15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conforme</a:t>
            </a:r>
            <a:r>
              <a:rPr lang="en-US" sz="15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vaya</a:t>
            </a:r>
            <a:r>
              <a:rPr lang="en-US" sz="15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subiendo</a:t>
            </a:r>
            <a:r>
              <a:rPr lang="en-US" sz="15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los</a:t>
            </a:r>
            <a:r>
              <a:rPr lang="en-US" sz="15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videos, </a:t>
            </a:r>
            <a:r>
              <a:rPr lang="en-US" sz="15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aparecenán</a:t>
            </a:r>
            <a:r>
              <a:rPr lang="en-US" sz="15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mas </a:t>
            </a:r>
            <a:r>
              <a:rPr lang="en-US" sz="15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pestañas</a:t>
            </a:r>
            <a:r>
              <a:rPr lang="en-US" sz="15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US" sz="15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poder</a:t>
            </a:r>
            <a:r>
              <a:rPr lang="en-US" sz="15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revisar</a:t>
            </a:r>
            <a:r>
              <a:rPr lang="en-US" sz="1500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500"/>
            </a:pP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>
            <a:extLst>
              <a:ext uri="{FF2B5EF4-FFF2-40B4-BE49-F238E27FC236}">
                <a16:creationId xmlns:a16="http://schemas.microsoft.com/office/drawing/2014/main" id="{7EEDD23A-66BF-3569-DB7B-95A967BDABF8}"/>
              </a:ext>
            </a:extLst>
          </p:cNvPr>
          <p:cNvSpPr txBox="1"/>
          <p:nvPr/>
        </p:nvSpPr>
        <p:spPr>
          <a:xfrm>
            <a:off x="1554480" y="5586984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350"/>
              <a:buFont typeface="Calibri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8330C8B-FA6F-59E3-4724-943F91D1A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137" y="1416968"/>
            <a:ext cx="4886285" cy="4662385"/>
          </a:xfrm>
          <a:prstGeom prst="rect">
            <a:avLst/>
          </a:prstGeom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340B7F11-B0AE-A882-38A6-ABDA3477AA06}"/>
              </a:ext>
            </a:extLst>
          </p:cNvPr>
          <p:cNvCxnSpPr>
            <a:cxnSpLocks/>
          </p:cNvCxnSpPr>
          <p:nvPr/>
        </p:nvCxnSpPr>
        <p:spPr>
          <a:xfrm flipV="1">
            <a:off x="1820008" y="2083777"/>
            <a:ext cx="4044461" cy="852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800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C17"/>
        </a:solidFill>
        <a:effectLst/>
      </p:bgPr>
    </p:bg>
    <p:spTree>
      <p:nvGrpSpPr>
        <p:cNvPr id="1" name="Shape 25">
          <a:extLst>
            <a:ext uri="{FF2B5EF4-FFF2-40B4-BE49-F238E27FC236}">
              <a16:creationId xmlns:a16="http://schemas.microsoft.com/office/drawing/2014/main" id="{05C2047B-2B00-2E71-E603-33AD6BDA8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>
            <a:extLst>
              <a:ext uri="{FF2B5EF4-FFF2-40B4-BE49-F238E27FC236}">
                <a16:creationId xmlns:a16="http://schemas.microsoft.com/office/drawing/2014/main" id="{C3781AEC-5950-BDB8-55F3-917E6DB94733}"/>
              </a:ext>
            </a:extLst>
          </p:cNvPr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EMPECEMOS POR AQUÍ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>
            <a:extLst>
              <a:ext uri="{FF2B5EF4-FFF2-40B4-BE49-F238E27FC236}">
                <a16:creationId xmlns:a16="http://schemas.microsoft.com/office/drawing/2014/main" id="{189C9C67-1C59-4C44-629A-5AD874368E1F}"/>
              </a:ext>
            </a:extLst>
          </p:cNvPr>
          <p:cNvSpPr txBox="1"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3200"/>
              <a:buFont typeface="Cambria"/>
              <a:buNone/>
            </a:pPr>
            <a:r>
              <a:rPr lang="en-US" sz="3200" b="0" i="0" u="none" strike="noStrike" cap="none">
                <a:solidFill>
                  <a:srgbClr val="F1E9DA"/>
                </a:solidFill>
                <a:latin typeface="Cambria"/>
                <a:ea typeface="Cambria"/>
                <a:cs typeface="Cambria"/>
                <a:sym typeface="Cambria"/>
              </a:rPr>
              <a:t>Lo que vas a encontrar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>
            <a:extLst>
              <a:ext uri="{FF2B5EF4-FFF2-40B4-BE49-F238E27FC236}">
                <a16:creationId xmlns:a16="http://schemas.microsoft.com/office/drawing/2014/main" id="{AB129068-BAE0-6389-80A4-847C573824FE}"/>
              </a:ext>
            </a:extLst>
          </p:cNvPr>
          <p:cNvSpPr txBox="1"/>
          <p:nvPr/>
        </p:nvSpPr>
        <p:spPr>
          <a:xfrm>
            <a:off x="640080" y="16002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500"/>
              <a:buFont typeface="Calibri"/>
              <a:buNone/>
            </a:pPr>
            <a:r>
              <a:rPr lang="en-US" sz="1500" b="0" i="0" u="none" strike="noStrike" cap="none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Cada </a:t>
            </a:r>
            <a:r>
              <a:rPr lang="en-US" sz="1500" b="0" i="0" u="none" strike="noStrike" cap="none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pestaña</a:t>
            </a:r>
            <a:r>
              <a:rPr lang="en-US" sz="1500" b="0" i="0" u="none" strike="noStrike" cap="none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500" b="0" i="0" u="none" strike="noStrike" cap="none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arriba</a:t>
            </a:r>
            <a:r>
              <a:rPr lang="en-US" sz="1500" b="0" i="0" u="none" strike="noStrike" cap="none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es un video </a:t>
            </a:r>
            <a:r>
              <a:rPr lang="en-US" sz="1500" b="0" i="0" u="none" strike="noStrike" cap="none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distinto</a:t>
            </a:r>
            <a:r>
              <a:rPr lang="en-US" sz="1500" b="0" i="0" u="none" strike="noStrike" cap="none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1500" b="0" i="0" u="none" strike="noStrike" cap="none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Dentro</a:t>
            </a:r>
            <a:r>
              <a:rPr lang="en-US" sz="1500" b="0" i="0" u="none" strike="noStrike" cap="none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vas a </a:t>
            </a:r>
            <a:r>
              <a:rPr lang="en-US" sz="1500" b="0" i="0" u="none" strike="noStrike" cap="none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ver</a:t>
            </a:r>
            <a:r>
              <a:rPr lang="en-US" sz="1500" b="0" i="0" u="none" strike="noStrike" cap="none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500" b="0" i="0" u="none" strike="noStrike" cap="none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500" b="0" i="0" u="none" strike="noStrike" cap="none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este</a:t>
            </a:r>
            <a:r>
              <a:rPr lang="en-US" sz="1500" b="0" i="0" u="none" strike="noStrike" cap="none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orden</a:t>
            </a:r>
            <a:r>
              <a:rPr lang="en-US" sz="1500" b="0" i="0" u="none" strike="noStrike" cap="none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>
            <a:extLst>
              <a:ext uri="{FF2B5EF4-FFF2-40B4-BE49-F238E27FC236}">
                <a16:creationId xmlns:a16="http://schemas.microsoft.com/office/drawing/2014/main" id="{44BD054F-E3AC-8E96-657A-FD8F8D58041A}"/>
              </a:ext>
            </a:extLst>
          </p:cNvPr>
          <p:cNvSpPr/>
          <p:nvPr/>
        </p:nvSpPr>
        <p:spPr>
          <a:xfrm>
            <a:off x="731520" y="2331720"/>
            <a:ext cx="566928" cy="566928"/>
          </a:xfrm>
          <a:prstGeom prst="ellipse">
            <a:avLst/>
          </a:prstGeom>
          <a:solidFill>
            <a:srgbClr val="332B22"/>
          </a:solidFill>
          <a:ln w="15875" cap="flat" cmpd="sng">
            <a:solidFill>
              <a:srgbClr val="C9A2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>
            <a:extLst>
              <a:ext uri="{FF2B5EF4-FFF2-40B4-BE49-F238E27FC236}">
                <a16:creationId xmlns:a16="http://schemas.microsoft.com/office/drawing/2014/main" id="{A5E17566-9CA8-6478-7663-F9F50FE3BA7D}"/>
              </a:ext>
            </a:extLst>
          </p:cNvPr>
          <p:cNvSpPr txBox="1"/>
          <p:nvPr/>
        </p:nvSpPr>
        <p:spPr>
          <a:xfrm>
            <a:off x="731520" y="23317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860"/>
              <a:buFont typeface="Calibri"/>
              <a:buNone/>
            </a:pPr>
            <a:r>
              <a:rPr lang="en-US" sz="1860" b="0" i="0" u="none" strike="noStrike" cap="none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♪</a:t>
            </a:r>
            <a:endParaRPr sz="1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>
            <a:extLst>
              <a:ext uri="{FF2B5EF4-FFF2-40B4-BE49-F238E27FC236}">
                <a16:creationId xmlns:a16="http://schemas.microsoft.com/office/drawing/2014/main" id="{61F440FA-9B53-23CB-0686-B20704AB2840}"/>
              </a:ext>
            </a:extLst>
          </p:cNvPr>
          <p:cNvSpPr txBox="1"/>
          <p:nvPr/>
        </p:nvSpPr>
        <p:spPr>
          <a:xfrm>
            <a:off x="1554480" y="230428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1700"/>
              <a:buFont typeface="Cambria"/>
              <a:buNone/>
            </a:pPr>
            <a:r>
              <a:rPr lang="en-US" sz="1700" b="0" i="0" u="none" strike="noStrike" cap="none" dirty="0">
                <a:solidFill>
                  <a:srgbClr val="F1E9DA"/>
                </a:solidFill>
                <a:latin typeface="Cambria"/>
                <a:ea typeface="Cambria"/>
                <a:cs typeface="Cambria"/>
                <a:sym typeface="Cambria"/>
              </a:rPr>
              <a:t>Video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>
            <a:extLst>
              <a:ext uri="{FF2B5EF4-FFF2-40B4-BE49-F238E27FC236}">
                <a16:creationId xmlns:a16="http://schemas.microsoft.com/office/drawing/2014/main" id="{6456FC52-153D-D2F1-4866-09CAEC7B0F79}"/>
              </a:ext>
            </a:extLst>
          </p:cNvPr>
          <p:cNvSpPr txBox="1"/>
          <p:nvPr/>
        </p:nvSpPr>
        <p:spPr>
          <a:xfrm>
            <a:off x="1554480" y="26517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El video en baja calidad, listo para ver.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>
            <a:extLst>
              <a:ext uri="{FF2B5EF4-FFF2-40B4-BE49-F238E27FC236}">
                <a16:creationId xmlns:a16="http://schemas.microsoft.com/office/drawing/2014/main" id="{70286FDD-6C5A-ADFD-BC93-7BBD1B894EA3}"/>
              </a:ext>
            </a:extLst>
          </p:cNvPr>
          <p:cNvSpPr/>
          <p:nvPr/>
        </p:nvSpPr>
        <p:spPr>
          <a:xfrm>
            <a:off x="731520" y="3310128"/>
            <a:ext cx="566928" cy="566928"/>
          </a:xfrm>
          <a:prstGeom prst="ellipse">
            <a:avLst/>
          </a:prstGeom>
          <a:solidFill>
            <a:srgbClr val="332B22"/>
          </a:solidFill>
          <a:ln w="15875" cap="flat" cmpd="sng">
            <a:solidFill>
              <a:srgbClr val="C9A2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>
            <a:extLst>
              <a:ext uri="{FF2B5EF4-FFF2-40B4-BE49-F238E27FC236}">
                <a16:creationId xmlns:a16="http://schemas.microsoft.com/office/drawing/2014/main" id="{EB681E2A-9C5C-66C6-C1F1-5BBCDAC13220}"/>
              </a:ext>
            </a:extLst>
          </p:cNvPr>
          <p:cNvSpPr txBox="1"/>
          <p:nvPr/>
        </p:nvSpPr>
        <p:spPr>
          <a:xfrm>
            <a:off x="731520" y="331012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860"/>
              <a:buFont typeface="Calibri"/>
              <a:buNone/>
            </a:pPr>
            <a:r>
              <a:rPr lang="en-US" sz="1860" b="0" i="0" u="none" strike="noStrike" cap="none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✎</a:t>
            </a:r>
            <a:endParaRPr sz="1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>
            <a:extLst>
              <a:ext uri="{FF2B5EF4-FFF2-40B4-BE49-F238E27FC236}">
                <a16:creationId xmlns:a16="http://schemas.microsoft.com/office/drawing/2014/main" id="{2406D617-5FFC-1019-C022-81BBC450DFA1}"/>
              </a:ext>
            </a:extLst>
          </p:cNvPr>
          <p:cNvSpPr txBox="1"/>
          <p:nvPr/>
        </p:nvSpPr>
        <p:spPr>
          <a:xfrm>
            <a:off x="1554480" y="3282696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1700"/>
              <a:buFont typeface="Cambria"/>
              <a:buNone/>
            </a:pPr>
            <a:r>
              <a:rPr lang="en-US" sz="1700" b="0" i="0" u="none" strike="noStrike" cap="none">
                <a:solidFill>
                  <a:srgbClr val="F1E9DA"/>
                </a:solidFill>
                <a:latin typeface="Cambria"/>
                <a:ea typeface="Cambria"/>
                <a:cs typeface="Cambria"/>
                <a:sym typeface="Cambria"/>
              </a:rPr>
              <a:t>Guion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>
            <a:extLst>
              <a:ext uri="{FF2B5EF4-FFF2-40B4-BE49-F238E27FC236}">
                <a16:creationId xmlns:a16="http://schemas.microsoft.com/office/drawing/2014/main" id="{6BD1112B-69C2-A37D-FAA2-8C743A66E657}"/>
              </a:ext>
            </a:extLst>
          </p:cNvPr>
          <p:cNvSpPr txBox="1"/>
          <p:nvPr/>
        </p:nvSpPr>
        <p:spPr>
          <a:xfrm>
            <a:off x="1554480" y="3630168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350"/>
              <a:buFont typeface="Calibri"/>
              <a:buNone/>
            </a:pPr>
            <a:r>
              <a:rPr lang="en-US" sz="1350" b="0" i="0" u="none" strike="noStrike" cap="none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Línea </a:t>
            </a:r>
            <a:r>
              <a:rPr lang="en-US" sz="1350" b="0" i="0" u="none" strike="noStrike" cap="none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por</a:t>
            </a:r>
            <a:r>
              <a:rPr lang="en-US" sz="1350" b="0" i="0" u="none" strike="noStrike" cap="none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línea</a:t>
            </a:r>
            <a:r>
              <a:rPr lang="en-US" sz="1350" b="0" i="0" u="none" strike="noStrike" cap="none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, para </a:t>
            </a:r>
            <a:r>
              <a:rPr lang="en-US" sz="1350" b="0" i="0" u="none" strike="noStrike" cap="none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aprobar</a:t>
            </a:r>
            <a:r>
              <a:rPr lang="en-US" sz="1350" b="0" i="0" u="none" strike="noStrike" cap="none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US" sz="1350" b="0" i="0" u="none" strike="noStrike" cap="none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pedir</a:t>
            </a:r>
            <a:r>
              <a:rPr lang="en-US" sz="1350" b="0" i="0" u="none" strike="noStrike" cap="none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cambios</a:t>
            </a:r>
            <a:r>
              <a:rPr lang="en-US" sz="1350" b="0" i="0" u="none" strike="noStrike" cap="none" dirty="0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>
            <a:extLst>
              <a:ext uri="{FF2B5EF4-FFF2-40B4-BE49-F238E27FC236}">
                <a16:creationId xmlns:a16="http://schemas.microsoft.com/office/drawing/2014/main" id="{9B2ACCAB-41B1-CCDD-E6C4-8C65C09D739D}"/>
              </a:ext>
            </a:extLst>
          </p:cNvPr>
          <p:cNvSpPr/>
          <p:nvPr/>
        </p:nvSpPr>
        <p:spPr>
          <a:xfrm>
            <a:off x="731520" y="4288536"/>
            <a:ext cx="566928" cy="566928"/>
          </a:xfrm>
          <a:prstGeom prst="ellipse">
            <a:avLst/>
          </a:prstGeom>
          <a:solidFill>
            <a:srgbClr val="332B22"/>
          </a:solidFill>
          <a:ln w="15875" cap="flat" cmpd="sng">
            <a:solidFill>
              <a:srgbClr val="C9A2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>
            <a:extLst>
              <a:ext uri="{FF2B5EF4-FFF2-40B4-BE49-F238E27FC236}">
                <a16:creationId xmlns:a16="http://schemas.microsoft.com/office/drawing/2014/main" id="{884DB240-A3C8-B3A9-8A8C-BE67E42E1EC8}"/>
              </a:ext>
            </a:extLst>
          </p:cNvPr>
          <p:cNvSpPr txBox="1"/>
          <p:nvPr/>
        </p:nvSpPr>
        <p:spPr>
          <a:xfrm>
            <a:off x="731520" y="428853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860"/>
              <a:buFont typeface="Calibri"/>
              <a:buNone/>
            </a:pPr>
            <a:r>
              <a:rPr lang="en-US" sz="1860" b="0" i="0" u="none" strike="noStrike" cap="none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>
            <a:extLst>
              <a:ext uri="{FF2B5EF4-FFF2-40B4-BE49-F238E27FC236}">
                <a16:creationId xmlns:a16="http://schemas.microsoft.com/office/drawing/2014/main" id="{A91A4F7F-0CA2-8D67-86B1-CDF6A0FAAA78}"/>
              </a:ext>
            </a:extLst>
          </p:cNvPr>
          <p:cNvSpPr txBox="1"/>
          <p:nvPr/>
        </p:nvSpPr>
        <p:spPr>
          <a:xfrm>
            <a:off x="1554480" y="426110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1700"/>
              <a:buFont typeface="Cambria"/>
              <a:buNone/>
            </a:pPr>
            <a:r>
              <a:rPr lang="en-US" sz="1700" b="0" i="0" u="none" strike="noStrike" cap="none">
                <a:solidFill>
                  <a:srgbClr val="F1E9DA"/>
                </a:solidFill>
                <a:latin typeface="Cambria"/>
                <a:ea typeface="Cambria"/>
                <a:cs typeface="Cambria"/>
                <a:sym typeface="Cambria"/>
              </a:rPr>
              <a:t>Copy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>
            <a:extLst>
              <a:ext uri="{FF2B5EF4-FFF2-40B4-BE49-F238E27FC236}">
                <a16:creationId xmlns:a16="http://schemas.microsoft.com/office/drawing/2014/main" id="{C5A445DD-7B57-E13B-4C58-6E0D5BE8E61D}"/>
              </a:ext>
            </a:extLst>
          </p:cNvPr>
          <p:cNvSpPr txBox="1"/>
          <p:nvPr/>
        </p:nvSpPr>
        <p:spPr>
          <a:xfrm>
            <a:off x="1554480" y="4608576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El texto de la publicación, también revisable.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>
            <a:extLst>
              <a:ext uri="{FF2B5EF4-FFF2-40B4-BE49-F238E27FC236}">
                <a16:creationId xmlns:a16="http://schemas.microsoft.com/office/drawing/2014/main" id="{61AFA66A-7B46-58C4-AC29-E6C83C5150D0}"/>
              </a:ext>
            </a:extLst>
          </p:cNvPr>
          <p:cNvSpPr/>
          <p:nvPr/>
        </p:nvSpPr>
        <p:spPr>
          <a:xfrm>
            <a:off x="731520" y="5266944"/>
            <a:ext cx="566928" cy="566928"/>
          </a:xfrm>
          <a:prstGeom prst="ellipse">
            <a:avLst/>
          </a:prstGeom>
          <a:solidFill>
            <a:srgbClr val="332B22"/>
          </a:solidFill>
          <a:ln w="15875" cap="flat" cmpd="sng">
            <a:solidFill>
              <a:srgbClr val="C9A2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>
            <a:extLst>
              <a:ext uri="{FF2B5EF4-FFF2-40B4-BE49-F238E27FC236}">
                <a16:creationId xmlns:a16="http://schemas.microsoft.com/office/drawing/2014/main" id="{C2E52386-65EA-72F2-D7DD-7EA45E08410C}"/>
              </a:ext>
            </a:extLst>
          </p:cNvPr>
          <p:cNvSpPr txBox="1"/>
          <p:nvPr/>
        </p:nvSpPr>
        <p:spPr>
          <a:xfrm>
            <a:off x="731520" y="526694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860"/>
              <a:buFont typeface="Calibri"/>
              <a:buNone/>
            </a:pPr>
            <a:r>
              <a:rPr lang="en-US" sz="1860" b="0" i="0" u="none" strike="noStrike" cap="none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>
            <a:extLst>
              <a:ext uri="{FF2B5EF4-FFF2-40B4-BE49-F238E27FC236}">
                <a16:creationId xmlns:a16="http://schemas.microsoft.com/office/drawing/2014/main" id="{4E32B5A2-4232-4A16-9701-5A4867E71A67}"/>
              </a:ext>
            </a:extLst>
          </p:cNvPr>
          <p:cNvSpPr txBox="1"/>
          <p:nvPr/>
        </p:nvSpPr>
        <p:spPr>
          <a:xfrm>
            <a:off x="1554480" y="523951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1700"/>
              <a:buFont typeface="Cambria"/>
              <a:buNone/>
            </a:pPr>
            <a:r>
              <a:rPr lang="en-US" sz="1700" b="0" i="0" u="none" strike="noStrike" cap="none">
                <a:solidFill>
                  <a:srgbClr val="F1E9DA"/>
                </a:solidFill>
                <a:latin typeface="Cambria"/>
                <a:ea typeface="Cambria"/>
                <a:cs typeface="Cambria"/>
                <a:sym typeface="Cambria"/>
              </a:rPr>
              <a:t>Comentarios generales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>
            <a:extLst>
              <a:ext uri="{FF2B5EF4-FFF2-40B4-BE49-F238E27FC236}">
                <a16:creationId xmlns:a16="http://schemas.microsoft.com/office/drawing/2014/main" id="{E077EBE4-0224-0090-2375-D25AB8F4FB43}"/>
              </a:ext>
            </a:extLst>
          </p:cNvPr>
          <p:cNvSpPr txBox="1"/>
          <p:nvPr/>
        </p:nvSpPr>
        <p:spPr>
          <a:xfrm>
            <a:off x="1554480" y="5586984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Para todo lo que no cabe en una sola línea.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368E892-2973-7644-165F-E5A005F63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737" y="1298975"/>
            <a:ext cx="4886285" cy="466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31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C17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PASO 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3200"/>
              <a:buFont typeface="Cambria"/>
              <a:buNone/>
            </a:pPr>
            <a:r>
              <a:rPr lang="en-US" sz="3200" b="0" i="0" u="none" strike="noStrike" cap="none">
                <a:solidFill>
                  <a:srgbClr val="F1E9DA"/>
                </a:solidFill>
                <a:latin typeface="Cambria"/>
                <a:ea typeface="Cambria"/>
                <a:cs typeface="Cambria"/>
                <a:sym typeface="Cambria"/>
              </a:rPr>
              <a:t>Revisa el guion, línea por línea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800"/>
              <a:buFont typeface="Cambria"/>
              <a:buNone/>
            </a:pPr>
            <a:r>
              <a:rPr lang="en-US" sz="1800" b="0" i="0" u="none" strike="noStrike" cap="none">
                <a:solidFill>
                  <a:srgbClr val="C9A24B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1143000" y="1984248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Cada línea tiene un botón que dice “Pendiente”.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800"/>
              <a:buFont typeface="Cambria"/>
              <a:buNone/>
            </a:pPr>
            <a:r>
              <a:rPr lang="en-US" sz="1800" b="0" i="0" u="none" strike="noStrike" cap="none">
                <a:solidFill>
                  <a:srgbClr val="C9A24B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1143000" y="3035808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Tócalo para cambiarlo a Aprobado o Cambio solicitado.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800"/>
              <a:buFont typeface="Cambria"/>
              <a:buNone/>
            </a:pPr>
            <a:r>
              <a:rPr lang="en-US" sz="1800" b="0" i="0" u="none" strike="noStrike" cap="none">
                <a:solidFill>
                  <a:srgbClr val="C9A24B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1143000" y="4087368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Si algo necesita ajuste, escribe tu comentario justo al lado de esa línea.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537960" y="192024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2B241D"/>
          </a:solidFill>
          <a:ln w="12700" cap="flat" cmpd="sng">
            <a:solidFill>
              <a:srgbClr val="463C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 txBox="1"/>
          <p:nvPr/>
        </p:nvSpPr>
        <p:spPr>
          <a:xfrm>
            <a:off x="6812280" y="21945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7223760" y="214884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¿Reaccionas tan rápido como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un músico de jazz?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7223760" y="288036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332B22"/>
          </a:solidFill>
          <a:ln w="12700" cap="flat" cmpd="sng">
            <a:solidFill>
              <a:srgbClr val="B3A8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5"/>
          <p:cNvSpPr txBox="1"/>
          <p:nvPr/>
        </p:nvSpPr>
        <p:spPr>
          <a:xfrm>
            <a:off x="7223760" y="288036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Pendiente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812280" y="3429000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332B22"/>
          </a:solidFill>
          <a:ln w="12700" cap="flat" cmpd="sng">
            <a:solidFill>
              <a:srgbClr val="463C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5"/>
          <p:cNvSpPr txBox="1"/>
          <p:nvPr/>
        </p:nvSpPr>
        <p:spPr>
          <a:xfrm>
            <a:off x="6949440" y="34290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357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6E6357"/>
                </a:solidFill>
                <a:latin typeface="Calibri"/>
                <a:ea typeface="Calibri"/>
                <a:cs typeface="Calibri"/>
                <a:sym typeface="Calibri"/>
              </a:rPr>
              <a:t>Comentario</a:t>
            </a:r>
            <a:r>
              <a:rPr lang="en-US" sz="1200" b="0" i="0" u="none" strike="noStrike" cap="none" dirty="0">
                <a:solidFill>
                  <a:srgbClr val="6E6357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6812280" y="41605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Los dos estados posibles: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812280" y="452628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332B22"/>
          </a:solidFill>
          <a:ln w="12700" cap="flat" cmpd="sng">
            <a:solidFill>
              <a:srgbClr val="7FA7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 txBox="1"/>
          <p:nvPr/>
        </p:nvSpPr>
        <p:spPr>
          <a:xfrm>
            <a:off x="6812280" y="4526280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FA77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7FA773"/>
                </a:solidFill>
                <a:latin typeface="Calibri"/>
                <a:ea typeface="Calibri"/>
                <a:cs typeface="Calibri"/>
                <a:sym typeface="Calibri"/>
              </a:rPr>
              <a:t>✓ Aprobado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8503920" y="45262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332B22"/>
          </a:solidFill>
          <a:ln w="12700" cap="flat" cmpd="sng">
            <a:solidFill>
              <a:srgbClr val="C77B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 txBox="1"/>
          <p:nvPr/>
        </p:nvSpPr>
        <p:spPr>
          <a:xfrm>
            <a:off x="8503920" y="452628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77B5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77B5F"/>
                </a:solidFill>
                <a:latin typeface="Calibri"/>
                <a:ea typeface="Calibri"/>
                <a:cs typeface="Calibri"/>
                <a:sym typeface="Calibri"/>
              </a:rPr>
              <a:t>✗ Cambio solicitado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C17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PASO 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3200"/>
              <a:buFont typeface="Cambria"/>
              <a:buNone/>
            </a:pPr>
            <a:r>
              <a:rPr lang="en-US" sz="3200" b="0" i="0" u="none" strike="noStrike" cap="none">
                <a:solidFill>
                  <a:srgbClr val="F1E9DA"/>
                </a:solidFill>
                <a:latin typeface="Cambria"/>
                <a:ea typeface="Cambria"/>
                <a:cs typeface="Cambria"/>
                <a:sym typeface="Cambria"/>
              </a:rPr>
              <a:t>Revisa el copy de la publicación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640080" y="1691640"/>
            <a:ext cx="53035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El texto que se va a publicar en Instagram funciona igual que el guion: apruébalo o pide un cambio, y deja tu comentario si hace falta.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6537960" y="169164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2B241D"/>
          </a:solidFill>
          <a:ln w="12700" cap="flat" cmpd="sng">
            <a:solidFill>
              <a:srgbClr val="463C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6"/>
          <p:cNvSpPr txBox="1"/>
          <p:nvPr/>
        </p:nvSpPr>
        <p:spPr>
          <a:xfrm>
            <a:off x="6812280" y="19202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500"/>
              <a:buFont typeface="Cambria"/>
              <a:buNone/>
            </a:pPr>
            <a:r>
              <a:rPr lang="en-US" sz="1500" b="0" i="0" u="none" strike="noStrike" cap="none">
                <a:solidFill>
                  <a:srgbClr val="C9A24B"/>
                </a:solidFill>
                <a:latin typeface="Cambria"/>
                <a:ea typeface="Cambria"/>
                <a:cs typeface="Cambria"/>
                <a:sym typeface="Cambria"/>
              </a:rPr>
              <a:t>Copy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6812280" y="233172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332B22"/>
          </a:solidFill>
          <a:ln w="12700" cap="flat" cmpd="sng">
            <a:solidFill>
              <a:srgbClr val="463C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/>
          <p:cNvSpPr txBox="1"/>
          <p:nvPr/>
        </p:nvSpPr>
        <p:spPr>
          <a:xfrm>
            <a:off x="6995160" y="2468880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El control de aire de un saxofonista de jazz puede sostener una nota durante mucho tiempo.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¿Te fijaste cómo toda la banda se congela...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6812280" y="39319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332B22"/>
          </a:solidFill>
          <a:ln w="12700" cap="flat" cmpd="sng">
            <a:solidFill>
              <a:srgbClr val="B3A8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"/>
          <p:cNvSpPr txBox="1"/>
          <p:nvPr/>
        </p:nvSpPr>
        <p:spPr>
          <a:xfrm>
            <a:off x="6812280" y="393192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Pendiente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812280" y="4480560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332B22"/>
          </a:solidFill>
          <a:ln w="12700" cap="flat" cmpd="sng">
            <a:solidFill>
              <a:srgbClr val="463C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6"/>
          <p:cNvSpPr txBox="1"/>
          <p:nvPr/>
        </p:nvSpPr>
        <p:spPr>
          <a:xfrm>
            <a:off x="6949440" y="44805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357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E6357"/>
                </a:solidFill>
                <a:latin typeface="Calibri"/>
                <a:ea typeface="Calibri"/>
                <a:cs typeface="Calibri"/>
                <a:sym typeface="Calibri"/>
              </a:rPr>
              <a:t>Comentario sobre el copy…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C17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PASO 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 txBox="1"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3200"/>
              <a:buFont typeface="Cambria"/>
              <a:buNone/>
            </a:pPr>
            <a:r>
              <a:rPr lang="en-US" sz="3200" b="0" i="0" u="none" strike="noStrike" cap="none">
                <a:solidFill>
                  <a:srgbClr val="F1E9DA"/>
                </a:solidFill>
                <a:latin typeface="Cambria"/>
                <a:ea typeface="Cambria"/>
                <a:cs typeface="Cambria"/>
                <a:sym typeface="Cambria"/>
              </a:rPr>
              <a:t>Comentarios generales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 txBox="1"/>
          <p:nvPr/>
        </p:nvSpPr>
        <p:spPr>
          <a:xfrm>
            <a:off x="640080" y="1691640"/>
            <a:ext cx="53035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¿Algo no encaja en ninguna línea del guion ni en el copy? Al final de cada video hay un espacio libre para cualquier observación.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6537960" y="2011680"/>
            <a:ext cx="5029200" cy="2194560"/>
          </a:xfrm>
          <a:prstGeom prst="roundRect">
            <a:avLst>
              <a:gd name="adj" fmla="val 5000"/>
            </a:avLst>
          </a:prstGeom>
          <a:solidFill>
            <a:srgbClr val="2B241D"/>
          </a:solidFill>
          <a:ln w="12700" cap="flat" cmpd="sng">
            <a:solidFill>
              <a:srgbClr val="463C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7"/>
          <p:cNvSpPr txBox="1"/>
          <p:nvPr/>
        </p:nvSpPr>
        <p:spPr>
          <a:xfrm>
            <a:off x="6812280" y="2240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500"/>
              <a:buFont typeface="Cambria"/>
              <a:buNone/>
            </a:pPr>
            <a:r>
              <a:rPr lang="en-US" sz="1500" b="0" i="0" u="none" strike="noStrike" cap="none">
                <a:solidFill>
                  <a:srgbClr val="C9A24B"/>
                </a:solidFill>
                <a:latin typeface="Cambria"/>
                <a:ea typeface="Cambria"/>
                <a:cs typeface="Cambria"/>
                <a:sym typeface="Cambria"/>
              </a:rPr>
              <a:t>Comentarios generales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6812280" y="2651760"/>
            <a:ext cx="4480560" cy="1371600"/>
          </a:xfrm>
          <a:prstGeom prst="roundRect">
            <a:avLst>
              <a:gd name="adj" fmla="val 5333"/>
            </a:avLst>
          </a:prstGeom>
          <a:solidFill>
            <a:srgbClr val="332B22"/>
          </a:solidFill>
          <a:ln w="12700" cap="flat" cmpd="sng">
            <a:solidFill>
              <a:srgbClr val="463C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7"/>
          <p:cNvSpPr txBox="1"/>
          <p:nvPr/>
        </p:nvSpPr>
        <p:spPr>
          <a:xfrm>
            <a:off x="6995160" y="27889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357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6E6357"/>
                </a:solidFill>
                <a:latin typeface="Calibri"/>
                <a:ea typeface="Calibri"/>
                <a:cs typeface="Calibri"/>
                <a:sym typeface="Calibri"/>
              </a:rPr>
              <a:t>Cualquier observación general sobre este video…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C17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PASO 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3200"/>
              <a:buFont typeface="Cambria"/>
              <a:buNone/>
            </a:pPr>
            <a:r>
              <a:rPr lang="en-US" sz="3200" b="0" i="0" u="none" strike="noStrike" cap="none">
                <a:solidFill>
                  <a:srgbClr val="F1E9DA"/>
                </a:solidFill>
                <a:latin typeface="Cambria"/>
                <a:ea typeface="Cambria"/>
                <a:cs typeface="Cambria"/>
                <a:sym typeface="Cambria"/>
              </a:rPr>
              <a:t>Tu veredicto del video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 txBox="1"/>
          <p:nvPr/>
        </p:nvSpPr>
        <p:spPr>
          <a:xfrm>
            <a:off x="640080" y="16916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Arriba a la derecha del video hay un selector con tres opciones. Ese es tu veredicto general — cámbialo al terminar de revisarlo.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640080" y="2743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32B22"/>
          </a:solidFill>
          <a:ln w="12700" cap="flat" cmpd="sng">
            <a:solidFill>
              <a:srgbClr val="6E63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8"/>
          <p:cNvSpPr txBox="1"/>
          <p:nvPr/>
        </p:nvSpPr>
        <p:spPr>
          <a:xfrm>
            <a:off x="640080" y="274320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6357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E6357"/>
                </a:solidFill>
                <a:latin typeface="Calibri"/>
                <a:ea typeface="Calibri"/>
                <a:cs typeface="Calibri"/>
                <a:sym typeface="Calibri"/>
              </a:rPr>
              <a:t>Sin revisar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3291840" y="2743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32B22"/>
          </a:solidFill>
          <a:ln w="12700" cap="flat" cmpd="sng">
            <a:solidFill>
              <a:srgbClr val="C77B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"/>
          <p:cNvSpPr txBox="1"/>
          <p:nvPr/>
        </p:nvSpPr>
        <p:spPr>
          <a:xfrm>
            <a:off x="3291840" y="274320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77B5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77B5F"/>
                </a:solidFill>
                <a:latin typeface="Calibri"/>
                <a:ea typeface="Calibri"/>
                <a:cs typeface="Calibri"/>
                <a:sym typeface="Calibri"/>
              </a:rPr>
              <a:t>Corregir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5943600" y="2743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32B22"/>
          </a:solidFill>
          <a:ln w="12700" cap="flat" cmpd="sng">
            <a:solidFill>
              <a:srgbClr val="7FA7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8"/>
          <p:cNvSpPr txBox="1"/>
          <p:nvPr/>
        </p:nvSpPr>
        <p:spPr>
          <a:xfrm>
            <a:off x="5943600" y="274320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FA77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7FA773"/>
                </a:solidFill>
                <a:latin typeface="Calibri"/>
                <a:ea typeface="Calibri"/>
                <a:cs typeface="Calibri"/>
                <a:sym typeface="Calibri"/>
              </a:rPr>
              <a:t>Aprobado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 txBox="1"/>
          <p:nvPr/>
        </p:nvSpPr>
        <p:spPr>
          <a:xfrm>
            <a:off x="640080" y="36576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Así se ve el selector cerrado, arriba del video: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640080" y="41148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332B22"/>
          </a:solidFill>
          <a:ln w="12700" cap="flat" cmpd="sng">
            <a:solidFill>
              <a:srgbClr val="463C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8"/>
          <p:cNvSpPr txBox="1"/>
          <p:nvPr/>
        </p:nvSpPr>
        <p:spPr>
          <a:xfrm>
            <a:off x="868680" y="411480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corregir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 txBox="1"/>
          <p:nvPr/>
        </p:nvSpPr>
        <p:spPr>
          <a:xfrm>
            <a:off x="2606040" y="4114800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▾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C17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PASO 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 txBox="1"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3200"/>
              <a:buFont typeface="Cambria"/>
              <a:buNone/>
            </a:pPr>
            <a:r>
              <a:rPr lang="en-US" sz="3200" b="0" i="0" u="none" strike="noStrike" cap="none">
                <a:solidFill>
                  <a:srgbClr val="F1E9DA"/>
                </a:solidFill>
                <a:latin typeface="Cambria"/>
                <a:ea typeface="Cambria"/>
                <a:cs typeface="Cambria"/>
                <a:sym typeface="Cambria"/>
              </a:rPr>
              <a:t>No olvides guardar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 txBox="1"/>
          <p:nvPr/>
        </p:nvSpPr>
        <p:spPr>
          <a:xfrm>
            <a:off x="640080" y="1691640"/>
            <a:ext cx="54864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Al terminar de revisar un video, baja hasta el final y toca “Guardar cambios”. Vas a ver una confirmación de que sí quedó.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640080" y="320040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C9A2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"/>
          <p:cNvSpPr txBox="1"/>
          <p:nvPr/>
        </p:nvSpPr>
        <p:spPr>
          <a:xfrm>
            <a:off x="640080" y="320040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1D14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241D14"/>
                </a:solidFill>
                <a:latin typeface="Calibri"/>
                <a:ea typeface="Calibri"/>
                <a:cs typeface="Calibri"/>
                <a:sym typeface="Calibri"/>
              </a:rPr>
              <a:t>Guardar cambios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 txBox="1"/>
          <p:nvPr/>
        </p:nvSpPr>
        <p:spPr>
          <a:xfrm>
            <a:off x="3200400" y="3200400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A773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7FA773"/>
                </a:solidFill>
                <a:latin typeface="Calibri"/>
                <a:ea typeface="Calibri"/>
                <a:cs typeface="Calibri"/>
                <a:sym typeface="Calibri"/>
              </a:rPr>
              <a:t>✓ Guardado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640080" y="411480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250"/>
              <a:buFont typeface="Calibri"/>
              <a:buNone/>
            </a:pPr>
            <a:r>
              <a:rPr lang="en-US" sz="1250" b="0" i="1" u="none" strike="noStrike" cap="none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El autoguardado también funciona mientras escribes — este botón es solo para tener la confirmación.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C17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ANTES DE EMPEZAR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 txBox="1"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3200"/>
              <a:buFont typeface="Cambria"/>
              <a:buNone/>
            </a:pPr>
            <a:r>
              <a:rPr lang="en-US" sz="3200" b="0" i="0" u="none" strike="noStrike" cap="none">
                <a:solidFill>
                  <a:srgbClr val="F1E9DA"/>
                </a:solidFill>
                <a:latin typeface="Cambria"/>
                <a:ea typeface="Cambria"/>
                <a:cs typeface="Cambria"/>
                <a:sym typeface="Cambria"/>
              </a:rPr>
              <a:t>Un par de cosas más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332B22"/>
          </a:solidFill>
          <a:ln w="15875" cap="flat" cmpd="sng">
            <a:solidFill>
              <a:srgbClr val="C9A2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0"/>
          <p:cNvSpPr txBox="1"/>
          <p:nvPr/>
        </p:nvSpPr>
        <p:spPr>
          <a:xfrm>
            <a:off x="731520" y="19659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♪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 txBox="1"/>
          <p:nvPr/>
        </p:nvSpPr>
        <p:spPr>
          <a:xfrm>
            <a:off x="1508760" y="19385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1700"/>
              <a:buFont typeface="Cambria"/>
              <a:buNone/>
            </a:pPr>
            <a:r>
              <a:rPr lang="en-US" sz="1700" b="0" i="0" u="none" strike="noStrike" cap="none">
                <a:solidFill>
                  <a:srgbClr val="F1E9DA"/>
                </a:solidFill>
                <a:latin typeface="Cambria"/>
                <a:ea typeface="Cambria"/>
                <a:cs typeface="Cambria"/>
                <a:sym typeface="Cambria"/>
              </a:rPr>
              <a:t>Notas para Toni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 txBox="1"/>
          <p:nvPr/>
        </p:nvSpPr>
        <p:spPr>
          <a:xfrm>
            <a:off x="1508760" y="23317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A89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B3A896"/>
                </a:solidFill>
                <a:latin typeface="Calibri"/>
                <a:ea typeface="Calibri"/>
                <a:cs typeface="Calibri"/>
                <a:sym typeface="Calibri"/>
              </a:rPr>
              <a:t>Si ves este cuadro arriba de un video, ahí puede haber algo que te dejé escrito sobre ese clip en particular. Vale la pena leerlo antes de revisar.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640080" y="3749040"/>
            <a:ext cx="10881360" cy="1463040"/>
          </a:xfrm>
          <a:prstGeom prst="roundRect">
            <a:avLst>
              <a:gd name="adj" fmla="val 7500"/>
            </a:avLst>
          </a:prstGeom>
          <a:solidFill>
            <a:srgbClr val="2B241D"/>
          </a:solidFill>
          <a:ln w="12700" cap="flat" cmpd="sng">
            <a:solidFill>
              <a:srgbClr val="C9A2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0"/>
          <p:cNvSpPr txBox="1"/>
          <p:nvPr/>
        </p:nvSpPr>
        <p:spPr>
          <a:xfrm>
            <a:off x="960120" y="3749040"/>
            <a:ext cx="102412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E9DA"/>
              </a:buClr>
              <a:buSzPts val="1500"/>
              <a:buFont typeface="Calibri"/>
              <a:buNone/>
            </a:pPr>
            <a:r>
              <a:rPr lang="en-US" sz="1500" b="0" i="0" u="none" strike="noStrike" cap="none" dirty="0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Todo se </a:t>
            </a:r>
            <a:r>
              <a:rPr lang="en-US" sz="1500" b="0" i="0" u="none" strike="noStrike" cap="none" dirty="0" err="1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guarda</a:t>
            </a:r>
            <a:r>
              <a:rPr lang="en-US" sz="1500" b="0" i="0" u="none" strike="noStrike" cap="none" dirty="0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dirty="0" err="1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automáticamente</a:t>
            </a:r>
            <a:r>
              <a:rPr lang="en-US" sz="1500" b="0" i="0" u="none" strike="noStrike" cap="none" dirty="0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dirty="0" err="1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mientras</a:t>
            </a:r>
            <a:r>
              <a:rPr lang="en-US" sz="1500" b="0" i="0" u="none" strike="noStrike" cap="none" dirty="0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 escribes. Si algo no carga o no </a:t>
            </a:r>
            <a:r>
              <a:rPr lang="en-US" sz="1500" b="0" i="0" u="none" strike="noStrike" cap="none" dirty="0" err="1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te</a:t>
            </a:r>
            <a:r>
              <a:rPr lang="en-US" sz="1500" b="0" i="0" u="none" strike="noStrike" cap="none" dirty="0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dirty="0" err="1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queda</a:t>
            </a:r>
            <a:r>
              <a:rPr lang="en-US" sz="1500" b="0" i="0" u="none" strike="noStrike" cap="none" dirty="0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 claro, </a:t>
            </a:r>
            <a:r>
              <a:rPr lang="en-US" sz="1500" b="0" i="0" u="none" strike="noStrike" cap="none" dirty="0" err="1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mándame</a:t>
            </a:r>
            <a:r>
              <a:rPr lang="en-US" sz="1500" b="0" i="0" u="none" strike="noStrike" cap="none" dirty="0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 un </a:t>
            </a:r>
            <a:r>
              <a:rPr lang="en-US" sz="1500" b="0" i="0" u="none" strike="noStrike" cap="none" dirty="0" err="1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mensaje</a:t>
            </a:r>
            <a:r>
              <a:rPr lang="en-US" sz="1500" b="0" i="0" u="none" strike="noStrike" cap="none" dirty="0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dirty="0" err="1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directo</a:t>
            </a:r>
            <a:r>
              <a:rPr lang="en-US" sz="1500" b="0" i="0" u="none" strike="noStrike" cap="none" dirty="0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 — es </a:t>
            </a:r>
            <a:r>
              <a:rPr lang="en-US" sz="1500" b="0" i="0" u="none" strike="noStrike" cap="none" dirty="0" err="1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más</a:t>
            </a:r>
            <a:r>
              <a:rPr lang="en-US" sz="1500" b="0" i="0" u="none" strike="noStrike" cap="none" dirty="0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dirty="0" err="1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rápido</a:t>
            </a:r>
            <a:r>
              <a:rPr lang="en-US" sz="1500" b="0" i="0" u="none" strike="noStrike" cap="none" dirty="0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lang="en-US" sz="1500" b="0" i="0" u="none" strike="noStrike" cap="none" dirty="0" err="1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intentar</a:t>
            </a:r>
            <a:r>
              <a:rPr lang="en-US" sz="1500" b="0" i="0" u="none" strike="noStrike" cap="none" dirty="0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dirty="0" err="1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arreglarlo</a:t>
            </a:r>
            <a:r>
              <a:rPr lang="en-US" sz="1500" b="0" i="0" u="none" strike="noStrike" cap="none" dirty="0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dirty="0" err="1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ahí</a:t>
            </a:r>
            <a:r>
              <a:rPr lang="en-US" sz="1500" b="0" i="0" u="none" strike="noStrike" cap="none" dirty="0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dirty="0" err="1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mismo</a:t>
            </a:r>
            <a:r>
              <a:rPr lang="en-US" sz="1500" b="0" i="0" u="none" strike="noStrike" cap="none" dirty="0">
                <a:solidFill>
                  <a:srgbClr val="F1E9D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582</Words>
  <Application>Microsoft Office PowerPoint</Application>
  <PresentationFormat>Panorámica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JIM</dc:creator>
  <cp:lastModifiedBy>Jaime Mendoza</cp:lastModifiedBy>
  <cp:revision>3</cp:revision>
  <dcterms:modified xsi:type="dcterms:W3CDTF">2026-08-31T22:20:51Z</dcterms:modified>
</cp:coreProperties>
</file>